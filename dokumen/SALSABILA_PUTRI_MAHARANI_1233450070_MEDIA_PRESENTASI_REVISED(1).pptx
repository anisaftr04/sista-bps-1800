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lacial Indifference Bold" charset="1" panose="00000800000000000000"/>
      <p:regular r:id="rId17"/>
    </p:embeddedFont>
    <p:embeddedFont>
      <p:font typeface="Glacial Indifference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4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5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6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7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27.png" Type="http://schemas.openxmlformats.org/officeDocument/2006/relationships/image"/><Relationship Id="rId17" Target="../media/image28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8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9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0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1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38881" y="-3217567"/>
            <a:ext cx="7272266" cy="6783041"/>
          </a:xfrm>
          <a:custGeom>
            <a:avLst/>
            <a:gdLst/>
            <a:ahLst/>
            <a:cxnLst/>
            <a:rect r="r" b="b" t="t" l="l"/>
            <a:pathLst>
              <a:path h="6783041" w="7272266">
                <a:moveTo>
                  <a:pt x="0" y="0"/>
                </a:moveTo>
                <a:lnTo>
                  <a:pt x="7272266" y="0"/>
                </a:lnTo>
                <a:lnTo>
                  <a:pt x="7272266" y="6783041"/>
                </a:lnTo>
                <a:lnTo>
                  <a:pt x="0" y="6783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83514" y="2901658"/>
            <a:ext cx="1327633" cy="1327633"/>
          </a:xfrm>
          <a:custGeom>
            <a:avLst/>
            <a:gdLst/>
            <a:ahLst/>
            <a:cxnLst/>
            <a:rect r="r" b="b" t="t" l="l"/>
            <a:pathLst>
              <a:path h="1327633" w="1327633">
                <a:moveTo>
                  <a:pt x="0" y="0"/>
                </a:moveTo>
                <a:lnTo>
                  <a:pt x="1327633" y="0"/>
                </a:lnTo>
                <a:lnTo>
                  <a:pt x="1327633" y="1327633"/>
                </a:lnTo>
                <a:lnTo>
                  <a:pt x="0" y="13276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351247" y="4400741"/>
            <a:ext cx="803180" cy="742759"/>
            <a:chOff x="0" y="0"/>
            <a:chExt cx="211537" cy="1956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537" cy="195624"/>
            </a:xfrm>
            <a:custGeom>
              <a:avLst/>
              <a:gdLst/>
              <a:ahLst/>
              <a:cxnLst/>
              <a:rect r="r" b="b" t="t" l="l"/>
              <a:pathLst>
                <a:path h="195624" w="211537">
                  <a:moveTo>
                    <a:pt x="0" y="0"/>
                  </a:moveTo>
                  <a:lnTo>
                    <a:pt x="211537" y="0"/>
                  </a:lnTo>
                  <a:lnTo>
                    <a:pt x="211537" y="195624"/>
                  </a:lnTo>
                  <a:lnTo>
                    <a:pt x="0" y="195624"/>
                  </a:ln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1537" cy="233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619741" cy="2934068"/>
            <a:chOff x="0" y="0"/>
            <a:chExt cx="163224" cy="7727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3224" cy="772759"/>
            </a:xfrm>
            <a:custGeom>
              <a:avLst/>
              <a:gdLst/>
              <a:ahLst/>
              <a:cxnLst/>
              <a:rect r="r" b="b" t="t" l="l"/>
              <a:pathLst>
                <a:path h="772759" w="163224">
                  <a:moveTo>
                    <a:pt x="0" y="0"/>
                  </a:moveTo>
                  <a:lnTo>
                    <a:pt x="163224" y="0"/>
                  </a:lnTo>
                  <a:lnTo>
                    <a:pt x="163224" y="772759"/>
                  </a:lnTo>
                  <a:lnTo>
                    <a:pt x="0" y="772759"/>
                  </a:ln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3224" cy="810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2933707"/>
            <a:ext cx="619741" cy="1004046"/>
            <a:chOff x="0" y="0"/>
            <a:chExt cx="163224" cy="264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3224" cy="264440"/>
            </a:xfrm>
            <a:custGeom>
              <a:avLst/>
              <a:gdLst/>
              <a:ahLst/>
              <a:cxnLst/>
              <a:rect r="r" b="b" t="t" l="l"/>
              <a:pathLst>
                <a:path h="264440" w="163224">
                  <a:moveTo>
                    <a:pt x="0" y="0"/>
                  </a:moveTo>
                  <a:lnTo>
                    <a:pt x="163224" y="0"/>
                  </a:lnTo>
                  <a:lnTo>
                    <a:pt x="163224" y="264440"/>
                  </a:lnTo>
                  <a:lnTo>
                    <a:pt x="0" y="264440"/>
                  </a:lnTo>
                  <a:close/>
                </a:path>
              </a:pathLst>
            </a:custGeom>
            <a:solidFill>
              <a:srgbClr val="D9F0E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3224" cy="302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6668606"/>
            <a:ext cx="12939515" cy="3618394"/>
            <a:chOff x="0" y="0"/>
            <a:chExt cx="3407938" cy="9529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07938" cy="952993"/>
            </a:xfrm>
            <a:custGeom>
              <a:avLst/>
              <a:gdLst/>
              <a:ahLst/>
              <a:cxnLst/>
              <a:rect r="r" b="b" t="t" l="l"/>
              <a:pathLst>
                <a:path h="952993" w="3407938">
                  <a:moveTo>
                    <a:pt x="0" y="0"/>
                  </a:moveTo>
                  <a:lnTo>
                    <a:pt x="3407938" y="0"/>
                  </a:lnTo>
                  <a:lnTo>
                    <a:pt x="3407938" y="952993"/>
                  </a:lnTo>
                  <a:lnTo>
                    <a:pt x="0" y="952993"/>
                  </a:ln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407938" cy="991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967885" y="7117855"/>
            <a:ext cx="143103" cy="2691310"/>
            <a:chOff x="0" y="0"/>
            <a:chExt cx="37690" cy="7088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690" cy="708822"/>
            </a:xfrm>
            <a:custGeom>
              <a:avLst/>
              <a:gdLst/>
              <a:ahLst/>
              <a:cxnLst/>
              <a:rect r="r" b="b" t="t" l="l"/>
              <a:pathLst>
                <a:path h="708822" w="37690">
                  <a:moveTo>
                    <a:pt x="0" y="0"/>
                  </a:moveTo>
                  <a:lnTo>
                    <a:pt x="37690" y="0"/>
                  </a:lnTo>
                  <a:lnTo>
                    <a:pt x="37690" y="708822"/>
                  </a:lnTo>
                  <a:lnTo>
                    <a:pt x="0" y="708822"/>
                  </a:lnTo>
                  <a:close/>
                </a:path>
              </a:pathLst>
            </a:custGeom>
            <a:solidFill>
              <a:srgbClr val="D9F0E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7690" cy="74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07355" y="2716809"/>
            <a:ext cx="13615239" cy="320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5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DETEKSI ATRIAL FIBRILLATION BERBASIS SINYAL ECG MENGGUNAKAN ALGORITMA RANDOM FOREST DENGAN FITUR HEART RATE VARIABILITY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76921" y="8516338"/>
            <a:ext cx="646707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PROGRAM STUDI SAINS DATA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67885" y="1379690"/>
            <a:ext cx="8718655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b="true" sz="3400" spc="272">
                <a:solidFill>
                  <a:srgbClr val="79C9B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76921" y="7078451"/>
            <a:ext cx="6901678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SALSABILA PUTRI MAHARANI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76921" y="7850223"/>
            <a:ext cx="375542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NIM : 123450070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76921" y="9182453"/>
            <a:ext cx="14556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13565"/>
            <a:chOff x="0" y="0"/>
            <a:chExt cx="4816593" cy="562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6248"/>
            </a:xfrm>
            <a:custGeom>
              <a:avLst/>
              <a:gdLst/>
              <a:ahLst/>
              <a:cxnLst/>
              <a:rect r="r" b="b" t="t" l="l"/>
              <a:pathLst>
                <a:path h="562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D9F0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073435"/>
            <a:ext cx="18288000" cy="213565"/>
            <a:chOff x="0" y="0"/>
            <a:chExt cx="4816593" cy="562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56248"/>
            </a:xfrm>
            <a:custGeom>
              <a:avLst/>
              <a:gdLst/>
              <a:ahLst/>
              <a:cxnLst/>
              <a:rect r="r" b="b" t="t" l="l"/>
              <a:pathLst>
                <a:path h="562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20488" y="986941"/>
            <a:ext cx="12067512" cy="7685061"/>
            <a:chOff x="0" y="0"/>
            <a:chExt cx="3178275" cy="20240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8275" cy="2024049"/>
            </a:xfrm>
            <a:custGeom>
              <a:avLst/>
              <a:gdLst/>
              <a:ahLst/>
              <a:cxnLst/>
              <a:rect r="r" b="b" t="t" l="l"/>
              <a:pathLst>
                <a:path h="2024049" w="3178275">
                  <a:moveTo>
                    <a:pt x="0" y="0"/>
                  </a:moveTo>
                  <a:lnTo>
                    <a:pt x="3178275" y="0"/>
                  </a:lnTo>
                  <a:lnTo>
                    <a:pt x="3178275" y="2024049"/>
                  </a:lnTo>
                  <a:lnTo>
                    <a:pt x="0" y="2024049"/>
                  </a:lnTo>
                  <a:close/>
                </a:path>
              </a:pathLst>
            </a:custGeom>
            <a:solidFill>
              <a:srgbClr val="D9F0E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78275" cy="2062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484758" y="6805162"/>
            <a:ext cx="1210872" cy="1210872"/>
          </a:xfrm>
          <a:custGeom>
            <a:avLst/>
            <a:gdLst/>
            <a:ahLst/>
            <a:cxnLst/>
            <a:rect r="r" b="b" t="t" l="l"/>
            <a:pathLst>
              <a:path h="1210872" w="1210872">
                <a:moveTo>
                  <a:pt x="0" y="0"/>
                </a:moveTo>
                <a:lnTo>
                  <a:pt x="1210873" y="0"/>
                </a:lnTo>
                <a:lnTo>
                  <a:pt x="1210873" y="1210873"/>
                </a:lnTo>
                <a:lnTo>
                  <a:pt x="0" y="12108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564000" y="8834437"/>
            <a:ext cx="955170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b="true" sz="44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cap="flat" w="9525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5645019" y="758341"/>
            <a:ext cx="3748303" cy="374830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79C9BB"/>
              </a:solidFill>
              <a:prstDash val="sysDot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695631" y="8237020"/>
            <a:ext cx="3672829" cy="3672829"/>
          </a:xfrm>
          <a:custGeom>
            <a:avLst/>
            <a:gdLst/>
            <a:ahLst/>
            <a:cxnLst/>
            <a:rect r="r" b="b" t="t" l="l"/>
            <a:pathLst>
              <a:path h="3672829" w="3672829">
                <a:moveTo>
                  <a:pt x="0" y="0"/>
                </a:moveTo>
                <a:lnTo>
                  <a:pt x="3672829" y="0"/>
                </a:lnTo>
                <a:lnTo>
                  <a:pt x="3672829" y="3672829"/>
                </a:lnTo>
                <a:lnTo>
                  <a:pt x="0" y="36728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429915" y="8963025"/>
            <a:ext cx="475269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b="true" sz="3000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97027" y="3028287"/>
            <a:ext cx="4949639" cy="21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9"/>
              </a:lnSpc>
            </a:pPr>
            <a:r>
              <a:rPr lang="en-US" sz="69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Latar</a:t>
            </a:r>
          </a:p>
          <a:p>
            <a:pPr algn="l">
              <a:lnSpc>
                <a:spcPts val="8259"/>
              </a:lnSpc>
            </a:pPr>
            <a:r>
              <a:rPr lang="en-US" sz="69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Belakang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45541" y="1329841"/>
            <a:ext cx="11371034" cy="479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0791" indent="-435395" lvl="1">
              <a:lnSpc>
                <a:spcPts val="45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Penyakit kardiovaskular → penyebab utama kematian global (17,9 juta/tahun, WHO 2023)</a:t>
            </a:r>
          </a:p>
          <a:p>
            <a:pPr algn="l" marL="870791" indent="-435395" lvl="1">
              <a:lnSpc>
                <a:spcPts val="45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AFib → aritmia paling umum; prevalensi global ~60 juta kasus (2030 est.)</a:t>
            </a:r>
          </a:p>
          <a:p>
            <a:pPr algn="l" marL="870791" indent="-435395" lvl="1">
              <a:lnSpc>
                <a:spcPts val="45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Risiko stroke 5x lebih tinggi &amp; gagal jantung meningkat 3x lipat</a:t>
            </a:r>
          </a:p>
          <a:p>
            <a:pPr algn="l" marL="870791" indent="-435395" lvl="1">
              <a:lnSpc>
                <a:spcPts val="45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ECG → standar emas diagnosis; butuh interpretasi otomatis yang cepat &amp; akurat</a:t>
            </a:r>
          </a:p>
          <a:p>
            <a:pPr algn="l">
              <a:lnSpc>
                <a:spcPts val="417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7368460" y="6600000"/>
            <a:ext cx="8549308" cy="342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Permasalahan: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Analisis manual:</a:t>
            </a:r>
          </a:p>
          <a:p>
            <a:pPr algn="l" marL="1727199" indent="-575733" lvl="2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Lama</a:t>
            </a:r>
          </a:p>
          <a:p>
            <a:pPr algn="l" marL="1727199" indent="-575733" lvl="2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Subjektif</a:t>
            </a:r>
          </a:p>
          <a:p>
            <a:pPr algn="l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9015" y="5379998"/>
            <a:ext cx="18288000" cy="4865047"/>
            <a:chOff x="0" y="0"/>
            <a:chExt cx="4816593" cy="12813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281329"/>
            </a:xfrm>
            <a:custGeom>
              <a:avLst/>
              <a:gdLst/>
              <a:ahLst/>
              <a:cxnLst/>
              <a:rect r="r" b="b" t="t" l="l"/>
              <a:pathLst>
                <a:path h="128132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281329"/>
                  </a:lnTo>
                  <a:lnTo>
                    <a:pt x="0" y="1281329"/>
                  </a:ln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319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213565"/>
            <a:chOff x="0" y="0"/>
            <a:chExt cx="4816593" cy="562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56248"/>
            </a:xfrm>
            <a:custGeom>
              <a:avLst/>
              <a:gdLst/>
              <a:ahLst/>
              <a:cxnLst/>
              <a:rect r="r" b="b" t="t" l="l"/>
              <a:pathLst>
                <a:path h="562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D9F0E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564000" y="8834437"/>
            <a:ext cx="955170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b="true" sz="44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</p:txBody>
      </p:sp>
      <p:sp>
        <p:nvSpPr>
          <p:cNvPr name="AutoShape 9" id="9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cap="flat" w="95250">
            <a:solidFill>
              <a:srgbClr val="D9F0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6609650" y="2924809"/>
            <a:ext cx="8226733" cy="5514595"/>
            <a:chOff x="0" y="0"/>
            <a:chExt cx="2166712" cy="14524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66712" cy="1452404"/>
            </a:xfrm>
            <a:custGeom>
              <a:avLst/>
              <a:gdLst/>
              <a:ahLst/>
              <a:cxnLst/>
              <a:rect r="r" b="b" t="t" l="l"/>
              <a:pathLst>
                <a:path h="1452404" w="2166712">
                  <a:moveTo>
                    <a:pt x="0" y="0"/>
                  </a:moveTo>
                  <a:lnTo>
                    <a:pt x="2166712" y="0"/>
                  </a:lnTo>
                  <a:lnTo>
                    <a:pt x="2166712" y="1452404"/>
                  </a:lnTo>
                  <a:lnTo>
                    <a:pt x="0" y="1452404"/>
                  </a:ln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66712" cy="1490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40951" y="2924809"/>
            <a:ext cx="6844721" cy="5514595"/>
            <a:chOff x="0" y="0"/>
            <a:chExt cx="1802725" cy="14524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02725" cy="1452404"/>
            </a:xfrm>
            <a:custGeom>
              <a:avLst/>
              <a:gdLst/>
              <a:ahLst/>
              <a:cxnLst/>
              <a:rect r="r" b="b" t="t" l="l"/>
              <a:pathLst>
                <a:path h="1452404" w="1802725">
                  <a:moveTo>
                    <a:pt x="0" y="0"/>
                  </a:moveTo>
                  <a:lnTo>
                    <a:pt x="1802725" y="0"/>
                  </a:lnTo>
                  <a:lnTo>
                    <a:pt x="1802725" y="1452404"/>
                  </a:lnTo>
                  <a:lnTo>
                    <a:pt x="0" y="1452404"/>
                  </a:lnTo>
                  <a:close/>
                </a:path>
              </a:pathLst>
            </a:custGeom>
            <a:solidFill>
              <a:srgbClr val="D9F0E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802725" cy="1490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32097" y="8513811"/>
            <a:ext cx="908854" cy="908854"/>
          </a:xfrm>
          <a:custGeom>
            <a:avLst/>
            <a:gdLst/>
            <a:ahLst/>
            <a:cxnLst/>
            <a:rect r="r" b="b" t="t" l="l"/>
            <a:pathLst>
              <a:path h="908854" w="908854">
                <a:moveTo>
                  <a:pt x="0" y="0"/>
                </a:moveTo>
                <a:lnTo>
                  <a:pt x="908854" y="0"/>
                </a:lnTo>
                <a:lnTo>
                  <a:pt x="908854" y="908855"/>
                </a:lnTo>
                <a:lnTo>
                  <a:pt x="0" y="90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385672" y="4430444"/>
            <a:ext cx="5860847" cy="317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Machine Learning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Menggunakan:</a:t>
            </a:r>
          </a:p>
          <a:p>
            <a:pPr algn="ctr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Fitur HRV &amp; RR interval</a:t>
            </a:r>
          </a:p>
          <a:p>
            <a:pPr algn="ctr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Algoritma Random Forest</a:t>
            </a:r>
          </a:p>
          <a:p>
            <a:pPr algn="ctr">
              <a:lnSpc>
                <a:spcPts val="3800"/>
              </a:lnSpc>
            </a:pPr>
            <a:r>
              <a:rPr lang="en-US" sz="2700" b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RF: robust noise, akurasi tinggi, feature importance</a:t>
            </a:r>
          </a:p>
          <a:p>
            <a:pPr algn="ctr">
              <a:lnSpc>
                <a:spcPts val="380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4718528" y="1490623"/>
            <a:ext cx="8850944" cy="367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GAP &amp; SOLUSI</a:t>
            </a:r>
          </a:p>
          <a:p>
            <a:pPr algn="ctr">
              <a:lnSpc>
                <a:spcPts val="9799"/>
              </a:lnSpc>
            </a:pPr>
          </a:p>
          <a:p>
            <a:pPr algn="ctr">
              <a:lnSpc>
                <a:spcPts val="979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051639" y="4657547"/>
            <a:ext cx="5469669" cy="316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0"/>
              </a:lnSpc>
            </a:pPr>
            <a:r>
              <a:rPr lang="en-US" sz="362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Deteksi otomatis masih perlu metode yang</a:t>
            </a:r>
          </a:p>
          <a:p>
            <a:pPr algn="l" marL="781958" indent="-390979" lvl="1">
              <a:lnSpc>
                <a:spcPts val="5070"/>
              </a:lnSpc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Akurat</a:t>
            </a:r>
          </a:p>
          <a:p>
            <a:pPr algn="l" marL="781958" indent="-390979" lvl="1">
              <a:lnSpc>
                <a:spcPts val="5070"/>
              </a:lnSpc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Stabil terhadap noise</a:t>
            </a:r>
          </a:p>
          <a:p>
            <a:pPr algn="ctr">
              <a:lnSpc>
                <a:spcPts val="507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1429915" y="8963025"/>
            <a:ext cx="475269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b="true" sz="3000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85977" y="3469202"/>
            <a:ext cx="3265103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Gap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97363" y="3469202"/>
            <a:ext cx="3265103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Solusi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5645019" y="758341"/>
            <a:ext cx="3748303" cy="3748303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79C9BB"/>
              </a:solidFill>
              <a:prstDash val="sysDot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2803" y="6553915"/>
            <a:ext cx="6375938" cy="5947012"/>
          </a:xfrm>
          <a:custGeom>
            <a:avLst/>
            <a:gdLst/>
            <a:ahLst/>
            <a:cxnLst/>
            <a:rect r="r" b="b" t="t" l="l"/>
            <a:pathLst>
              <a:path h="5947012" w="6375938">
                <a:moveTo>
                  <a:pt x="0" y="0"/>
                </a:moveTo>
                <a:lnTo>
                  <a:pt x="6375938" y="0"/>
                </a:lnTo>
                <a:lnTo>
                  <a:pt x="6375938" y="5947012"/>
                </a:lnTo>
                <a:lnTo>
                  <a:pt x="0" y="5947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0073435"/>
            <a:ext cx="18288000" cy="213565"/>
            <a:chOff x="0" y="0"/>
            <a:chExt cx="4816593" cy="56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56248"/>
            </a:xfrm>
            <a:custGeom>
              <a:avLst/>
              <a:gdLst/>
              <a:ahLst/>
              <a:cxnLst/>
              <a:rect r="r" b="b" t="t" l="l"/>
              <a:pathLst>
                <a:path h="562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213565"/>
            <a:chOff x="0" y="0"/>
            <a:chExt cx="4816593" cy="562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56248"/>
            </a:xfrm>
            <a:custGeom>
              <a:avLst/>
              <a:gdLst/>
              <a:ahLst/>
              <a:cxnLst/>
              <a:rect r="r" b="b" t="t" l="l"/>
              <a:pathLst>
                <a:path h="562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D9F0E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7476553" y="3653155"/>
            <a:ext cx="11329315" cy="0"/>
          </a:xfrm>
          <a:prstGeom prst="line">
            <a:avLst/>
          </a:prstGeom>
          <a:ln cap="flat" w="3810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7465125" y="5338951"/>
            <a:ext cx="11329315" cy="0"/>
          </a:xfrm>
          <a:prstGeom prst="line">
            <a:avLst/>
          </a:prstGeom>
          <a:ln cap="flat" w="3810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8846973" y="7091300"/>
            <a:ext cx="11329315" cy="0"/>
          </a:xfrm>
          <a:prstGeom prst="line">
            <a:avLst/>
          </a:prstGeom>
          <a:ln cap="flat" w="3810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4138092" y="6650005"/>
            <a:ext cx="1210872" cy="1210872"/>
          </a:xfrm>
          <a:custGeom>
            <a:avLst/>
            <a:gdLst/>
            <a:ahLst/>
            <a:cxnLst/>
            <a:rect r="r" b="b" t="t" l="l"/>
            <a:pathLst>
              <a:path h="1210872" w="1210872">
                <a:moveTo>
                  <a:pt x="0" y="0"/>
                </a:moveTo>
                <a:lnTo>
                  <a:pt x="1210872" y="0"/>
                </a:lnTo>
                <a:lnTo>
                  <a:pt x="1210872" y="1210872"/>
                </a:lnTo>
                <a:lnTo>
                  <a:pt x="0" y="1210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564000" y="8834437"/>
            <a:ext cx="955170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b="true" sz="44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04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cap="flat" w="9525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6893853" y="567841"/>
            <a:ext cx="1082627" cy="1082627"/>
          </a:xfrm>
          <a:custGeom>
            <a:avLst/>
            <a:gdLst/>
            <a:ahLst/>
            <a:cxnLst/>
            <a:rect r="r" b="b" t="t" l="l"/>
            <a:pathLst>
              <a:path h="1082627" w="1082627">
                <a:moveTo>
                  <a:pt x="0" y="0"/>
                </a:moveTo>
                <a:lnTo>
                  <a:pt x="1082626" y="0"/>
                </a:lnTo>
                <a:lnTo>
                  <a:pt x="1082626" y="1082627"/>
                </a:lnTo>
                <a:lnTo>
                  <a:pt x="0" y="1082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98000" y="3380105"/>
            <a:ext cx="4727341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Rumusan</a:t>
            </a:r>
          </a:p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 xml:space="preserve">Masalah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19917" y="2769286"/>
            <a:ext cx="1043302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Bagaimana karakteristik fitur ECG (RR &amp; HRV)?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79807" y="2751454"/>
            <a:ext cx="938336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true">
                <a:solidFill>
                  <a:srgbClr val="79C9B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54978" y="832072"/>
            <a:ext cx="4709118" cy="7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sz="4299" b="true">
                <a:solidFill>
                  <a:srgbClr val="79C9B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 xml:space="preserve">Rumusan Masalah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79807" y="4540567"/>
            <a:ext cx="1096746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true">
                <a:solidFill>
                  <a:srgbClr val="79C9B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19917" y="4577080"/>
            <a:ext cx="10769643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Bagaimana membangun model Random Forest?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0" y="6174876"/>
            <a:ext cx="8873295" cy="209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Seberapa baik kinerja model?</a:t>
            </a:r>
          </a:p>
          <a:p>
            <a:pPr algn="l">
              <a:lnSpc>
                <a:spcPts val="5599"/>
              </a:lnSpc>
            </a:pP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7465125" y="6174876"/>
            <a:ext cx="1096746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true">
                <a:solidFill>
                  <a:srgbClr val="79C9B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29915" y="8963025"/>
            <a:ext cx="475269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b="true" sz="3000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2803" y="6553915"/>
            <a:ext cx="6375938" cy="5947012"/>
          </a:xfrm>
          <a:custGeom>
            <a:avLst/>
            <a:gdLst/>
            <a:ahLst/>
            <a:cxnLst/>
            <a:rect r="r" b="b" t="t" l="l"/>
            <a:pathLst>
              <a:path h="5947012" w="6375938">
                <a:moveTo>
                  <a:pt x="0" y="0"/>
                </a:moveTo>
                <a:lnTo>
                  <a:pt x="6375938" y="0"/>
                </a:lnTo>
                <a:lnTo>
                  <a:pt x="6375938" y="5947012"/>
                </a:lnTo>
                <a:lnTo>
                  <a:pt x="0" y="5947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0073435"/>
            <a:ext cx="18288000" cy="213565"/>
            <a:chOff x="0" y="0"/>
            <a:chExt cx="4816593" cy="56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56248"/>
            </a:xfrm>
            <a:custGeom>
              <a:avLst/>
              <a:gdLst/>
              <a:ahLst/>
              <a:cxnLst/>
              <a:rect r="r" b="b" t="t" l="l"/>
              <a:pathLst>
                <a:path h="562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213565"/>
            <a:chOff x="0" y="0"/>
            <a:chExt cx="4816593" cy="562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56248"/>
            </a:xfrm>
            <a:custGeom>
              <a:avLst/>
              <a:gdLst/>
              <a:ahLst/>
              <a:cxnLst/>
              <a:rect r="r" b="b" t="t" l="l"/>
              <a:pathLst>
                <a:path h="562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D9F0E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138092" y="6650005"/>
            <a:ext cx="1210872" cy="1210872"/>
          </a:xfrm>
          <a:custGeom>
            <a:avLst/>
            <a:gdLst/>
            <a:ahLst/>
            <a:cxnLst/>
            <a:rect r="r" b="b" t="t" l="l"/>
            <a:pathLst>
              <a:path h="1210872" w="1210872">
                <a:moveTo>
                  <a:pt x="0" y="0"/>
                </a:moveTo>
                <a:lnTo>
                  <a:pt x="1210872" y="0"/>
                </a:lnTo>
                <a:lnTo>
                  <a:pt x="1210872" y="1210872"/>
                </a:lnTo>
                <a:lnTo>
                  <a:pt x="0" y="1210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564000" y="8834437"/>
            <a:ext cx="955170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b="true" sz="44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05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cap="flat" w="9525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893853" y="567841"/>
            <a:ext cx="1082627" cy="1082627"/>
          </a:xfrm>
          <a:custGeom>
            <a:avLst/>
            <a:gdLst/>
            <a:ahLst/>
            <a:cxnLst/>
            <a:rect r="r" b="b" t="t" l="l"/>
            <a:pathLst>
              <a:path h="1082627" w="1082627">
                <a:moveTo>
                  <a:pt x="0" y="0"/>
                </a:moveTo>
                <a:lnTo>
                  <a:pt x="1082626" y="0"/>
                </a:lnTo>
                <a:lnTo>
                  <a:pt x="1082626" y="1082627"/>
                </a:lnTo>
                <a:lnTo>
                  <a:pt x="0" y="1082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09103" y="2796026"/>
            <a:ext cx="4727341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 xml:space="preserve"> TUJUAN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29915" y="8963025"/>
            <a:ext cx="475269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b="true" sz="3000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84735" y="1545693"/>
            <a:ext cx="4709118" cy="92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399" b="true">
                <a:solidFill>
                  <a:srgbClr val="79C9B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 xml:space="preserve">Tujuan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65606" y="3227826"/>
            <a:ext cx="938336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true">
                <a:solidFill>
                  <a:srgbClr val="79C9B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11137" y="3148850"/>
            <a:ext cx="7471470" cy="764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Mengidentifikasi fitur RR &amp; HRV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03942" y="5057775"/>
            <a:ext cx="1096746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true">
                <a:solidFill>
                  <a:srgbClr val="79C9B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51693" y="5046865"/>
            <a:ext cx="7585571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Membangun model Random Forest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952315" y="6865905"/>
            <a:ext cx="7585571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Membangun model Random Forest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36444" y="6865905"/>
            <a:ext cx="1096746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true">
                <a:solidFill>
                  <a:srgbClr val="79C9B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03.</a:t>
            </a:r>
          </a:p>
        </p:txBody>
      </p:sp>
      <p:sp>
        <p:nvSpPr>
          <p:cNvPr name="AutoShape 22" id="22"/>
          <p:cNvSpPr/>
          <p:nvPr/>
        </p:nvSpPr>
        <p:spPr>
          <a:xfrm>
            <a:off x="6647165" y="3989826"/>
            <a:ext cx="11329315" cy="0"/>
          </a:xfrm>
          <a:prstGeom prst="line">
            <a:avLst/>
          </a:prstGeom>
          <a:ln cap="flat" w="3810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7403942" y="7650130"/>
            <a:ext cx="11329315" cy="0"/>
          </a:xfrm>
          <a:prstGeom prst="line">
            <a:avLst/>
          </a:prstGeom>
          <a:ln cap="flat" w="3810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6931769" y="5831976"/>
            <a:ext cx="11329315" cy="0"/>
          </a:xfrm>
          <a:prstGeom prst="line">
            <a:avLst/>
          </a:prstGeom>
          <a:ln cap="flat" w="3810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6782215" y="4139368"/>
            <a:ext cx="11329315" cy="0"/>
          </a:xfrm>
          <a:prstGeom prst="line">
            <a:avLst/>
          </a:prstGeom>
          <a:ln cap="flat" w="3810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6979821" y="5946276"/>
            <a:ext cx="11329315" cy="0"/>
          </a:xfrm>
          <a:prstGeom prst="line">
            <a:avLst/>
          </a:prstGeom>
          <a:ln cap="flat" w="3810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7333190" y="7793005"/>
            <a:ext cx="11329315" cy="0"/>
          </a:xfrm>
          <a:prstGeom prst="line">
            <a:avLst/>
          </a:prstGeom>
          <a:ln cap="flat" w="3810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73435"/>
            <a:ext cx="18288000" cy="213565"/>
            <a:chOff x="0" y="0"/>
            <a:chExt cx="4816593" cy="562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6248"/>
            </a:xfrm>
            <a:custGeom>
              <a:avLst/>
              <a:gdLst/>
              <a:ahLst/>
              <a:cxnLst/>
              <a:rect r="r" b="b" t="t" l="l"/>
              <a:pathLst>
                <a:path h="562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3620519">
            <a:off x="15344460" y="-725042"/>
            <a:ext cx="2439080" cy="4207555"/>
          </a:xfrm>
          <a:custGeom>
            <a:avLst/>
            <a:gdLst/>
            <a:ahLst/>
            <a:cxnLst/>
            <a:rect r="r" b="b" t="t" l="l"/>
            <a:pathLst>
              <a:path h="4207555" w="2439080">
                <a:moveTo>
                  <a:pt x="0" y="0"/>
                </a:moveTo>
                <a:lnTo>
                  <a:pt x="2439080" y="0"/>
                </a:lnTo>
                <a:lnTo>
                  <a:pt x="2439080" y="4207555"/>
                </a:lnTo>
                <a:lnTo>
                  <a:pt x="0" y="42075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213565"/>
            <a:chOff x="0" y="0"/>
            <a:chExt cx="4816593" cy="562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56248"/>
            </a:xfrm>
            <a:custGeom>
              <a:avLst/>
              <a:gdLst/>
              <a:ahLst/>
              <a:cxnLst/>
              <a:rect r="r" b="b" t="t" l="l"/>
              <a:pathLst>
                <a:path h="562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D9F0E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843093" y="8834437"/>
            <a:ext cx="676077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b="true" sz="44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06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cap="flat" w="9525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2339791" y="106783"/>
            <a:ext cx="4266133" cy="2133067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5976" lIns="55976" bIns="55976" rIns="5597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47323" y="4499928"/>
            <a:ext cx="6192221" cy="3096111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F0E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5976" lIns="55976" bIns="55976" rIns="5597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93124" y="3863581"/>
            <a:ext cx="8768677" cy="4384338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5976" lIns="55976" bIns="55976" rIns="5597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936150" y="1939801"/>
            <a:ext cx="8415700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KONSEP UTAMA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29915" y="8963025"/>
            <a:ext cx="475269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b="true" sz="3000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14291" y="4841751"/>
            <a:ext cx="5805498" cy="2007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AFib → irama tidak teratur akibat impuls listrik kacau di atrium</a:t>
            </a:r>
          </a:p>
          <a:p>
            <a:pPr algn="l">
              <a:lnSpc>
                <a:spcPts val="380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ECG → merekam aktivitas listrik jantung (gelombang P, QRS, T)</a:t>
            </a:r>
          </a:p>
          <a:p>
            <a:pPr algn="l">
              <a:lnSpc>
                <a:spcPts val="380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HRV → variasi interval RR antar detak (domain waktu &amp; frekuensi)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331257" y="4841751"/>
            <a:ext cx="4529038" cy="1979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Ciri AFib pada ECG: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Interval RR tidak beraturan (irreguler)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HRV tinggi → SDNN, RMSSD meningkat signifikan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Gelombang P tidak terdeteksi jelas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73435"/>
            <a:ext cx="18288000" cy="213565"/>
            <a:chOff x="0" y="0"/>
            <a:chExt cx="4816593" cy="562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6248"/>
            </a:xfrm>
            <a:custGeom>
              <a:avLst/>
              <a:gdLst/>
              <a:ahLst/>
              <a:cxnLst/>
              <a:rect r="r" b="b" t="t" l="l"/>
              <a:pathLst>
                <a:path h="562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00223" y="-728461"/>
            <a:ext cx="2592604" cy="2592604"/>
          </a:xfrm>
          <a:custGeom>
            <a:avLst/>
            <a:gdLst/>
            <a:ahLst/>
            <a:cxnLst/>
            <a:rect r="r" b="b" t="t" l="l"/>
            <a:pathLst>
              <a:path h="2592604" w="2592604">
                <a:moveTo>
                  <a:pt x="0" y="0"/>
                </a:moveTo>
                <a:lnTo>
                  <a:pt x="2592604" y="0"/>
                </a:lnTo>
                <a:lnTo>
                  <a:pt x="2592604" y="2592604"/>
                </a:lnTo>
                <a:lnTo>
                  <a:pt x="0" y="2592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213565"/>
            <a:chOff x="0" y="0"/>
            <a:chExt cx="4816593" cy="562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56248"/>
            </a:xfrm>
            <a:custGeom>
              <a:avLst/>
              <a:gdLst/>
              <a:ahLst/>
              <a:cxnLst/>
              <a:rect r="r" b="b" t="t" l="l"/>
              <a:pathLst>
                <a:path h="562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D9F0E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564000" y="8834437"/>
            <a:ext cx="955170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b="true" sz="44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07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cap="flat" w="9525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219263" y="8370503"/>
            <a:ext cx="15849473" cy="0"/>
          </a:xfrm>
          <a:prstGeom prst="line">
            <a:avLst/>
          </a:prstGeom>
          <a:ln cap="flat" w="3810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219263" y="3102381"/>
            <a:ext cx="15849473" cy="0"/>
          </a:xfrm>
          <a:prstGeom prst="line">
            <a:avLst/>
          </a:prstGeom>
          <a:ln cap="flat" w="3810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238313" y="3083200"/>
            <a:ext cx="2587" cy="5306222"/>
          </a:xfrm>
          <a:prstGeom prst="line">
            <a:avLst/>
          </a:prstGeom>
          <a:ln cap="flat" w="3810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5193097" y="3092590"/>
            <a:ext cx="0" cy="5287443"/>
          </a:xfrm>
          <a:prstGeom prst="line">
            <a:avLst/>
          </a:prstGeom>
          <a:ln cap="flat" w="3810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 flipV="true">
            <a:off x="9145294" y="3092590"/>
            <a:ext cx="0" cy="5287443"/>
          </a:xfrm>
          <a:prstGeom prst="line">
            <a:avLst/>
          </a:prstGeom>
          <a:ln cap="flat" w="3810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3097490" y="3092590"/>
            <a:ext cx="0" cy="5287443"/>
          </a:xfrm>
          <a:prstGeom prst="line">
            <a:avLst/>
          </a:prstGeom>
          <a:ln cap="flat" w="3810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7049687" y="3092590"/>
            <a:ext cx="0" cy="5287443"/>
          </a:xfrm>
          <a:prstGeom prst="line">
            <a:avLst/>
          </a:prstGeom>
          <a:ln cap="flat" w="3810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6457175" y="3092590"/>
            <a:ext cx="1465528" cy="1491803"/>
            <a:chOff x="0" y="0"/>
            <a:chExt cx="798484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8484" cy="812800"/>
            </a:xfrm>
            <a:custGeom>
              <a:avLst/>
              <a:gdLst/>
              <a:ahLst/>
              <a:cxnLst/>
              <a:rect r="r" b="b" t="t" l="l"/>
              <a:pathLst>
                <a:path h="812800" w="798484">
                  <a:moveTo>
                    <a:pt x="798484" y="0"/>
                  </a:moveTo>
                  <a:lnTo>
                    <a:pt x="798484" y="698500"/>
                  </a:lnTo>
                  <a:lnTo>
                    <a:pt x="399242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798484" y="0"/>
                  </a:ln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98484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469462" y="3092590"/>
            <a:ext cx="1465528" cy="1491803"/>
            <a:chOff x="0" y="0"/>
            <a:chExt cx="798484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98484" cy="812800"/>
            </a:xfrm>
            <a:custGeom>
              <a:avLst/>
              <a:gdLst/>
              <a:ahLst/>
              <a:cxnLst/>
              <a:rect r="r" b="b" t="t" l="l"/>
              <a:pathLst>
                <a:path h="812800" w="798484">
                  <a:moveTo>
                    <a:pt x="798484" y="0"/>
                  </a:moveTo>
                  <a:lnTo>
                    <a:pt x="798484" y="698500"/>
                  </a:lnTo>
                  <a:lnTo>
                    <a:pt x="399242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798484" y="0"/>
                  </a:ln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98484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430002" y="3083191"/>
            <a:ext cx="1465528" cy="1491803"/>
            <a:chOff x="0" y="0"/>
            <a:chExt cx="798484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98484" cy="812800"/>
            </a:xfrm>
            <a:custGeom>
              <a:avLst/>
              <a:gdLst/>
              <a:ahLst/>
              <a:cxnLst/>
              <a:rect r="r" b="b" t="t" l="l"/>
              <a:pathLst>
                <a:path h="812800" w="798484">
                  <a:moveTo>
                    <a:pt x="798484" y="0"/>
                  </a:moveTo>
                  <a:lnTo>
                    <a:pt x="798484" y="698500"/>
                  </a:lnTo>
                  <a:lnTo>
                    <a:pt x="399242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798484" y="0"/>
                  </a:ln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98484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229868" y="3083191"/>
            <a:ext cx="1465528" cy="1491803"/>
            <a:chOff x="0" y="0"/>
            <a:chExt cx="798484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98484" cy="812800"/>
            </a:xfrm>
            <a:custGeom>
              <a:avLst/>
              <a:gdLst/>
              <a:ahLst/>
              <a:cxnLst/>
              <a:rect r="r" b="b" t="t" l="l"/>
              <a:pathLst>
                <a:path h="812800" w="798484">
                  <a:moveTo>
                    <a:pt x="798484" y="0"/>
                  </a:moveTo>
                  <a:lnTo>
                    <a:pt x="798484" y="698500"/>
                  </a:lnTo>
                  <a:lnTo>
                    <a:pt x="399242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798484" y="0"/>
                  </a:ln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98484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2822742" y="3417335"/>
            <a:ext cx="744393" cy="842312"/>
          </a:xfrm>
          <a:custGeom>
            <a:avLst/>
            <a:gdLst/>
            <a:ahLst/>
            <a:cxnLst/>
            <a:rect r="r" b="b" t="t" l="l"/>
            <a:pathLst>
              <a:path h="842312" w="744393">
                <a:moveTo>
                  <a:pt x="0" y="0"/>
                </a:moveTo>
                <a:lnTo>
                  <a:pt x="744393" y="0"/>
                </a:lnTo>
                <a:lnTo>
                  <a:pt x="744393" y="842312"/>
                </a:lnTo>
                <a:lnTo>
                  <a:pt x="0" y="842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745030" y="3426749"/>
            <a:ext cx="889817" cy="823485"/>
          </a:xfrm>
          <a:custGeom>
            <a:avLst/>
            <a:gdLst/>
            <a:ahLst/>
            <a:cxnLst/>
            <a:rect r="r" b="b" t="t" l="l"/>
            <a:pathLst>
              <a:path h="823485" w="889817">
                <a:moveTo>
                  <a:pt x="0" y="0"/>
                </a:moveTo>
                <a:lnTo>
                  <a:pt x="889817" y="0"/>
                </a:lnTo>
                <a:lnTo>
                  <a:pt x="889817" y="823485"/>
                </a:lnTo>
                <a:lnTo>
                  <a:pt x="0" y="823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757966" y="3416025"/>
            <a:ext cx="809600" cy="844933"/>
          </a:xfrm>
          <a:custGeom>
            <a:avLst/>
            <a:gdLst/>
            <a:ahLst/>
            <a:cxnLst/>
            <a:rect r="r" b="b" t="t" l="l"/>
            <a:pathLst>
              <a:path h="844933" w="809600">
                <a:moveTo>
                  <a:pt x="0" y="0"/>
                </a:moveTo>
                <a:lnTo>
                  <a:pt x="809600" y="0"/>
                </a:lnTo>
                <a:lnTo>
                  <a:pt x="809600" y="844933"/>
                </a:lnTo>
                <a:lnTo>
                  <a:pt x="0" y="8449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4622394" y="3417973"/>
            <a:ext cx="680475" cy="841037"/>
          </a:xfrm>
          <a:custGeom>
            <a:avLst/>
            <a:gdLst/>
            <a:ahLst/>
            <a:cxnLst/>
            <a:rect r="r" b="b" t="t" l="l"/>
            <a:pathLst>
              <a:path h="841037" w="680475">
                <a:moveTo>
                  <a:pt x="0" y="0"/>
                </a:moveTo>
                <a:lnTo>
                  <a:pt x="680476" y="0"/>
                </a:lnTo>
                <a:lnTo>
                  <a:pt x="680476" y="841037"/>
                </a:lnTo>
                <a:lnTo>
                  <a:pt x="0" y="841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158727" y="1588933"/>
            <a:ext cx="1073337" cy="1073337"/>
          </a:xfrm>
          <a:custGeom>
            <a:avLst/>
            <a:gdLst/>
            <a:ahLst/>
            <a:cxnLst/>
            <a:rect r="r" b="b" t="t" l="l"/>
            <a:pathLst>
              <a:path h="1073337" w="1073337">
                <a:moveTo>
                  <a:pt x="0" y="0"/>
                </a:moveTo>
                <a:lnTo>
                  <a:pt x="1073337" y="0"/>
                </a:lnTo>
                <a:lnTo>
                  <a:pt x="1073337" y="1073337"/>
                </a:lnTo>
                <a:lnTo>
                  <a:pt x="0" y="10733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560067" y="8446709"/>
            <a:ext cx="659197" cy="659197"/>
          </a:xfrm>
          <a:custGeom>
            <a:avLst/>
            <a:gdLst/>
            <a:ahLst/>
            <a:cxnLst/>
            <a:rect r="r" b="b" t="t" l="l"/>
            <a:pathLst>
              <a:path h="659197" w="659197">
                <a:moveTo>
                  <a:pt x="0" y="0"/>
                </a:moveTo>
                <a:lnTo>
                  <a:pt x="659196" y="0"/>
                </a:lnTo>
                <a:lnTo>
                  <a:pt x="659196" y="659197"/>
                </a:lnTo>
                <a:lnTo>
                  <a:pt x="0" y="6591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4075378" y="1551020"/>
            <a:ext cx="10137245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Metode Penelitian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80589" y="4777895"/>
            <a:ext cx="324327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Jenis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592936" y="4777895"/>
            <a:ext cx="319400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14327" y="4744875"/>
            <a:ext cx="3096878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Bentuk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203278" y="4787420"/>
            <a:ext cx="351870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Model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66014" y="5764781"/>
            <a:ext cx="3257849" cy="1393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 xml:space="preserve"> kuantitatif, eksperimen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516668" y="5830090"/>
            <a:ext cx="3346542" cy="209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PhysioNet &amp; MIT-BIH</a:t>
            </a:r>
          </a:p>
          <a:p>
            <a:pPr algn="ctr">
              <a:lnSpc>
                <a:spcPts val="5599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9431044" y="5830090"/>
            <a:ext cx="3213503" cy="1393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sinyal ECG (time series)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554690" y="5248947"/>
            <a:ext cx="3000620" cy="288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5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Random Forest</a:t>
            </a:r>
          </a:p>
          <a:p>
            <a:pPr algn="ctr">
              <a:lnSpc>
                <a:spcPts val="3400"/>
              </a:lnSpc>
            </a:pP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100 trees, Gini, 80:20 split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29915" y="8963025"/>
            <a:ext cx="475269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b="true" sz="3000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1250990" y="9157302"/>
            <a:ext cx="659197" cy="659197"/>
          </a:xfrm>
          <a:custGeom>
            <a:avLst/>
            <a:gdLst/>
            <a:ahLst/>
            <a:cxnLst/>
            <a:rect r="r" b="b" t="t" l="l"/>
            <a:pathLst>
              <a:path h="659197" w="659197">
                <a:moveTo>
                  <a:pt x="0" y="0"/>
                </a:moveTo>
                <a:lnTo>
                  <a:pt x="659197" y="0"/>
                </a:lnTo>
                <a:lnTo>
                  <a:pt x="659197" y="659196"/>
                </a:lnTo>
                <a:lnTo>
                  <a:pt x="0" y="65919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26659" y="7028511"/>
            <a:ext cx="4921456" cy="3986379"/>
          </a:xfrm>
          <a:custGeom>
            <a:avLst/>
            <a:gdLst/>
            <a:ahLst/>
            <a:cxnLst/>
            <a:rect r="r" b="b" t="t" l="l"/>
            <a:pathLst>
              <a:path h="3986379" w="4921456">
                <a:moveTo>
                  <a:pt x="0" y="0"/>
                </a:moveTo>
                <a:lnTo>
                  <a:pt x="4921455" y="0"/>
                </a:lnTo>
                <a:lnTo>
                  <a:pt x="4921455" y="3986379"/>
                </a:lnTo>
                <a:lnTo>
                  <a:pt x="0" y="3986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0073435"/>
            <a:ext cx="18288000" cy="213565"/>
            <a:chOff x="0" y="0"/>
            <a:chExt cx="4816593" cy="56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56248"/>
            </a:xfrm>
            <a:custGeom>
              <a:avLst/>
              <a:gdLst/>
              <a:ahLst/>
              <a:cxnLst/>
              <a:rect r="r" b="b" t="t" l="l"/>
              <a:pathLst>
                <a:path h="562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853616" y="-2405665"/>
            <a:ext cx="6375938" cy="5947012"/>
          </a:xfrm>
          <a:custGeom>
            <a:avLst/>
            <a:gdLst/>
            <a:ahLst/>
            <a:cxnLst/>
            <a:rect r="r" b="b" t="t" l="l"/>
            <a:pathLst>
              <a:path h="5947012" w="6375938">
                <a:moveTo>
                  <a:pt x="0" y="0"/>
                </a:moveTo>
                <a:lnTo>
                  <a:pt x="6375938" y="0"/>
                </a:lnTo>
                <a:lnTo>
                  <a:pt x="6375938" y="5947012"/>
                </a:lnTo>
                <a:lnTo>
                  <a:pt x="0" y="59470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0"/>
            <a:ext cx="18288000" cy="213565"/>
            <a:chOff x="0" y="0"/>
            <a:chExt cx="4816593" cy="562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56248"/>
            </a:xfrm>
            <a:custGeom>
              <a:avLst/>
              <a:gdLst/>
              <a:ahLst/>
              <a:cxnLst/>
              <a:rect r="r" b="b" t="t" l="l"/>
              <a:pathLst>
                <a:path h="562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D9F0E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564000" y="8834437"/>
            <a:ext cx="955170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b="true" sz="44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08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cap="flat" w="9525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9439686" y="3561676"/>
            <a:ext cx="1638992" cy="163899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39686" y="6209015"/>
            <a:ext cx="1638992" cy="163899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9754040" y="3880449"/>
            <a:ext cx="1010284" cy="1001444"/>
          </a:xfrm>
          <a:custGeom>
            <a:avLst/>
            <a:gdLst/>
            <a:ahLst/>
            <a:cxnLst/>
            <a:rect r="r" b="b" t="t" l="l"/>
            <a:pathLst>
              <a:path h="1001444" w="1010284">
                <a:moveTo>
                  <a:pt x="0" y="0"/>
                </a:moveTo>
                <a:lnTo>
                  <a:pt x="1010284" y="0"/>
                </a:lnTo>
                <a:lnTo>
                  <a:pt x="1010284" y="1001445"/>
                </a:lnTo>
                <a:lnTo>
                  <a:pt x="0" y="1001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705619" y="6474948"/>
            <a:ext cx="1107127" cy="1107127"/>
          </a:xfrm>
          <a:custGeom>
            <a:avLst/>
            <a:gdLst/>
            <a:ahLst/>
            <a:cxnLst/>
            <a:rect r="r" b="b" t="t" l="l"/>
            <a:pathLst>
              <a:path h="1107127" w="1107127">
                <a:moveTo>
                  <a:pt x="0" y="0"/>
                </a:moveTo>
                <a:lnTo>
                  <a:pt x="1107127" y="0"/>
                </a:lnTo>
                <a:lnTo>
                  <a:pt x="1107127" y="1107126"/>
                </a:lnTo>
                <a:lnTo>
                  <a:pt x="0" y="11071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520548" y="2191237"/>
            <a:ext cx="6798822" cy="6686317"/>
          </a:xfrm>
          <a:custGeom>
            <a:avLst/>
            <a:gdLst/>
            <a:ahLst/>
            <a:cxnLst/>
            <a:rect r="r" b="b" t="t" l="l"/>
            <a:pathLst>
              <a:path h="6686317" w="6798822">
                <a:moveTo>
                  <a:pt x="0" y="0"/>
                </a:moveTo>
                <a:lnTo>
                  <a:pt x="6798821" y="0"/>
                </a:lnTo>
                <a:lnTo>
                  <a:pt x="6798821" y="6686317"/>
                </a:lnTo>
                <a:lnTo>
                  <a:pt x="0" y="668631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04" r="-6209" b="-204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663778" y="923925"/>
            <a:ext cx="7481858" cy="89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1"/>
              </a:lnSpc>
            </a:pPr>
            <a:r>
              <a:rPr lang="en-US" sz="5215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ALUR PENELITIAN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29915" y="8963025"/>
            <a:ext cx="475269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b="true" sz="3000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73435"/>
            <a:ext cx="18288000" cy="213565"/>
            <a:chOff x="0" y="0"/>
            <a:chExt cx="4816593" cy="562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6248"/>
            </a:xfrm>
            <a:custGeom>
              <a:avLst/>
              <a:gdLst/>
              <a:ahLst/>
              <a:cxnLst/>
              <a:rect r="r" b="b" t="t" l="l"/>
              <a:pathLst>
                <a:path h="562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730368" y="-2222135"/>
            <a:ext cx="5204027" cy="4853938"/>
          </a:xfrm>
          <a:custGeom>
            <a:avLst/>
            <a:gdLst/>
            <a:ahLst/>
            <a:cxnLst/>
            <a:rect r="r" b="b" t="t" l="l"/>
            <a:pathLst>
              <a:path h="4853938" w="5204027">
                <a:moveTo>
                  <a:pt x="0" y="0"/>
                </a:moveTo>
                <a:lnTo>
                  <a:pt x="5204028" y="0"/>
                </a:lnTo>
                <a:lnTo>
                  <a:pt x="5204028" y="4853938"/>
                </a:lnTo>
                <a:lnTo>
                  <a:pt x="0" y="4853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213565"/>
            <a:chOff x="0" y="0"/>
            <a:chExt cx="4816593" cy="562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56248"/>
            </a:xfrm>
            <a:custGeom>
              <a:avLst/>
              <a:gdLst/>
              <a:ahLst/>
              <a:cxnLst/>
              <a:rect r="r" b="b" t="t" l="l"/>
              <a:pathLst>
                <a:path h="562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D9F0E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564000" y="8834437"/>
            <a:ext cx="955170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b="true" sz="44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09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cap="flat" w="95250">
            <a:solidFill>
              <a:srgbClr val="79C9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604202" y="3384499"/>
            <a:ext cx="5223803" cy="5223803"/>
          </a:xfrm>
          <a:custGeom>
            <a:avLst/>
            <a:gdLst/>
            <a:ahLst/>
            <a:cxnLst/>
            <a:rect r="r" b="b" t="t" l="l"/>
            <a:pathLst>
              <a:path h="5223803" w="5223803">
                <a:moveTo>
                  <a:pt x="0" y="0"/>
                </a:moveTo>
                <a:lnTo>
                  <a:pt x="5223803" y="0"/>
                </a:lnTo>
                <a:lnTo>
                  <a:pt x="5223803" y="5223803"/>
                </a:lnTo>
                <a:lnTo>
                  <a:pt x="0" y="5223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095306">
            <a:off x="1503464" y="6673552"/>
            <a:ext cx="923622" cy="491829"/>
          </a:xfrm>
          <a:custGeom>
            <a:avLst/>
            <a:gdLst/>
            <a:ahLst/>
            <a:cxnLst/>
            <a:rect r="r" b="b" t="t" l="l"/>
            <a:pathLst>
              <a:path h="491829" w="923622">
                <a:moveTo>
                  <a:pt x="0" y="0"/>
                </a:moveTo>
                <a:lnTo>
                  <a:pt x="923622" y="0"/>
                </a:lnTo>
                <a:lnTo>
                  <a:pt x="923622" y="491829"/>
                </a:lnTo>
                <a:lnTo>
                  <a:pt x="0" y="4918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164999">
            <a:off x="5277933" y="7916247"/>
            <a:ext cx="923622" cy="491829"/>
          </a:xfrm>
          <a:custGeom>
            <a:avLst/>
            <a:gdLst/>
            <a:ahLst/>
            <a:cxnLst/>
            <a:rect r="r" b="b" t="t" l="l"/>
            <a:pathLst>
              <a:path h="491829" w="923622">
                <a:moveTo>
                  <a:pt x="923622" y="0"/>
                </a:moveTo>
                <a:lnTo>
                  <a:pt x="0" y="0"/>
                </a:lnTo>
                <a:lnTo>
                  <a:pt x="0" y="491829"/>
                </a:lnTo>
                <a:lnTo>
                  <a:pt x="923622" y="491829"/>
                </a:lnTo>
                <a:lnTo>
                  <a:pt x="9236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-3447596">
            <a:off x="3117664" y="3161528"/>
            <a:ext cx="923622" cy="491829"/>
          </a:xfrm>
          <a:custGeom>
            <a:avLst/>
            <a:gdLst/>
            <a:ahLst/>
            <a:cxnLst/>
            <a:rect r="r" b="b" t="t" l="l"/>
            <a:pathLst>
              <a:path h="491829" w="923622">
                <a:moveTo>
                  <a:pt x="923621" y="0"/>
                </a:moveTo>
                <a:lnTo>
                  <a:pt x="0" y="0"/>
                </a:lnTo>
                <a:lnTo>
                  <a:pt x="0" y="491829"/>
                </a:lnTo>
                <a:lnTo>
                  <a:pt x="923621" y="491829"/>
                </a:lnTo>
                <a:lnTo>
                  <a:pt x="92362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6072216" y="2095786"/>
            <a:ext cx="1078817" cy="943965"/>
            <a:chOff x="0" y="0"/>
            <a:chExt cx="812800" cy="71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885340" y="3108053"/>
            <a:ext cx="695300" cy="608388"/>
            <a:chOff x="0" y="0"/>
            <a:chExt cx="812800" cy="711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9F0EA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338804" y="8877554"/>
            <a:ext cx="934267" cy="934267"/>
          </a:xfrm>
          <a:custGeom>
            <a:avLst/>
            <a:gdLst/>
            <a:ahLst/>
            <a:cxnLst/>
            <a:rect r="r" b="b" t="t" l="l"/>
            <a:pathLst>
              <a:path h="934267" w="934267">
                <a:moveTo>
                  <a:pt x="0" y="0"/>
                </a:moveTo>
                <a:lnTo>
                  <a:pt x="934266" y="0"/>
                </a:lnTo>
                <a:lnTo>
                  <a:pt x="934266" y="934267"/>
                </a:lnTo>
                <a:lnTo>
                  <a:pt x="0" y="9342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408739" y="2831857"/>
            <a:ext cx="204235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 xml:space="preserve">DATA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16635" y="4620335"/>
            <a:ext cx="204235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VARIABEL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93128" y="3507497"/>
            <a:ext cx="8927089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Dataset publik (PhysioNet, MIT-BIH)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99212" y="5384843"/>
            <a:ext cx="9105276" cy="3925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3256" indent="-401628" lvl="1">
              <a:lnSpc>
                <a:spcPts val="5208"/>
              </a:lnSpc>
              <a:buFont typeface="Arial"/>
              <a:buChar char="•"/>
            </a:pPr>
            <a:r>
              <a:rPr lang="en-US" sz="372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IIndependen:</a:t>
            </a:r>
          </a:p>
          <a:p>
            <a:pPr algn="l">
              <a:lnSpc>
                <a:spcPts val="5208"/>
              </a:lnSpc>
            </a:pPr>
            <a:r>
              <a:rPr lang="en-US" sz="372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 xml:space="preserve">      </a:t>
            </a:r>
            <a:r>
              <a:rPr lang="en-US" sz="372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ECG, RR interval, HRV</a:t>
            </a:r>
          </a:p>
          <a:p>
            <a:pPr algn="l" marL="803256" indent="-401628" lvl="1">
              <a:lnSpc>
                <a:spcPts val="5208"/>
              </a:lnSpc>
              <a:buFont typeface="Arial"/>
              <a:buChar char="•"/>
            </a:pPr>
            <a:r>
              <a:rPr lang="en-US" sz="372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Dependen:</a:t>
            </a:r>
          </a:p>
          <a:p>
            <a:pPr algn="l">
              <a:lnSpc>
                <a:spcPts val="5208"/>
              </a:lnSpc>
            </a:pPr>
            <a:r>
              <a:rPr lang="en-US" sz="372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 xml:space="preserve">      </a:t>
            </a:r>
            <a:r>
              <a:rPr lang="en-US" sz="372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Klasifikasi (Normal / AFib)</a:t>
            </a:r>
          </a:p>
          <a:p>
            <a:pPr algn="l">
              <a:lnSpc>
                <a:spcPts val="5208"/>
              </a:lnSpc>
            </a:pPr>
          </a:p>
          <a:p>
            <a:pPr algn="l">
              <a:lnSpc>
                <a:spcPts val="5208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1429915" y="8963025"/>
            <a:ext cx="475269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b="true" sz="3000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36150" y="793972"/>
            <a:ext cx="8415700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 DAN VARIABEL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9015" y="5379998"/>
            <a:ext cx="18288000" cy="4865047"/>
            <a:chOff x="0" y="0"/>
            <a:chExt cx="4816593" cy="12813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281329"/>
            </a:xfrm>
            <a:custGeom>
              <a:avLst/>
              <a:gdLst/>
              <a:ahLst/>
              <a:cxnLst/>
              <a:rect r="r" b="b" t="t" l="l"/>
              <a:pathLst>
                <a:path h="128132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281329"/>
                  </a:lnTo>
                  <a:lnTo>
                    <a:pt x="0" y="1281329"/>
                  </a:ln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319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213565"/>
            <a:chOff x="0" y="0"/>
            <a:chExt cx="4816593" cy="562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56248"/>
            </a:xfrm>
            <a:custGeom>
              <a:avLst/>
              <a:gdLst/>
              <a:ahLst/>
              <a:cxnLst/>
              <a:rect r="r" b="b" t="t" l="l"/>
              <a:pathLst>
                <a:path h="562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D9F0E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564000" y="8834437"/>
            <a:ext cx="955170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b="true" sz="44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10</a:t>
            </a:r>
          </a:p>
        </p:txBody>
      </p:sp>
      <p:sp>
        <p:nvSpPr>
          <p:cNvPr name="AutoShape 9" id="9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cap="flat" w="95250">
            <a:solidFill>
              <a:srgbClr val="D9F0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6609650" y="4094123"/>
            <a:ext cx="9035368" cy="3718398"/>
            <a:chOff x="0" y="0"/>
            <a:chExt cx="2379685" cy="9793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9685" cy="979331"/>
            </a:xfrm>
            <a:custGeom>
              <a:avLst/>
              <a:gdLst/>
              <a:ahLst/>
              <a:cxnLst/>
              <a:rect r="r" b="b" t="t" l="l"/>
              <a:pathLst>
                <a:path h="979331" w="2379685">
                  <a:moveTo>
                    <a:pt x="0" y="0"/>
                  </a:moveTo>
                  <a:lnTo>
                    <a:pt x="2379685" y="0"/>
                  </a:lnTo>
                  <a:lnTo>
                    <a:pt x="2379685" y="979331"/>
                  </a:lnTo>
                  <a:lnTo>
                    <a:pt x="0" y="979331"/>
                  </a:ln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379685" cy="1017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40951" y="2924809"/>
            <a:ext cx="6844721" cy="6714237"/>
            <a:chOff x="0" y="0"/>
            <a:chExt cx="1802725" cy="17683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02725" cy="1768359"/>
            </a:xfrm>
            <a:custGeom>
              <a:avLst/>
              <a:gdLst/>
              <a:ahLst/>
              <a:cxnLst/>
              <a:rect r="r" b="b" t="t" l="l"/>
              <a:pathLst>
                <a:path h="1768359" w="1802725">
                  <a:moveTo>
                    <a:pt x="0" y="0"/>
                  </a:moveTo>
                  <a:lnTo>
                    <a:pt x="1802725" y="0"/>
                  </a:lnTo>
                  <a:lnTo>
                    <a:pt x="1802725" y="1768359"/>
                  </a:lnTo>
                  <a:lnTo>
                    <a:pt x="0" y="1768359"/>
                  </a:lnTo>
                  <a:close/>
                </a:path>
              </a:pathLst>
            </a:custGeom>
            <a:solidFill>
              <a:srgbClr val="D9F0E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802725" cy="180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32097" y="8513811"/>
            <a:ext cx="908854" cy="908854"/>
          </a:xfrm>
          <a:custGeom>
            <a:avLst/>
            <a:gdLst/>
            <a:ahLst/>
            <a:cxnLst/>
            <a:rect r="r" b="b" t="t" l="l"/>
            <a:pathLst>
              <a:path h="908854" w="908854">
                <a:moveTo>
                  <a:pt x="0" y="0"/>
                </a:moveTo>
                <a:lnTo>
                  <a:pt x="908854" y="0"/>
                </a:lnTo>
                <a:lnTo>
                  <a:pt x="908854" y="908855"/>
                </a:lnTo>
                <a:lnTo>
                  <a:pt x="0" y="90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723053" y="5338176"/>
            <a:ext cx="10670268" cy="317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Model deteksi AFib otomatis</a:t>
            </a: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Membantu diagnosis</a:t>
            </a: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lebih cepat</a:t>
            </a: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503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4718528" y="1490623"/>
            <a:ext cx="8850944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ANALISIS &amp; OUTPUT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83694" y="3573424"/>
            <a:ext cx="5469669" cy="635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1958" indent="-390979" lvl="1">
              <a:lnSpc>
                <a:spcPts val="380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Preprocessing: filter noise (bandpass 0.5-40 Hz), deteksi puncak R</a:t>
            </a:r>
          </a:p>
          <a:p>
            <a:pPr algn="l" marL="781958" indent="-390979" lvl="1">
              <a:lnSpc>
                <a:spcPts val="38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Ekstraksi fitur HRV: SDNN, RMSSD, pNN50, Mean RR, SDSD</a:t>
            </a:r>
          </a:p>
          <a:p>
            <a:pPr algn="l" marL="781958" indent="-390979" lvl="1">
              <a:lnSpc>
                <a:spcPts val="38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Split data 80:20 (training &amp; testing), stratified</a:t>
            </a:r>
          </a:p>
          <a:p>
            <a:pPr algn="l" marL="781958" indent="-390979" lvl="1">
              <a:lnSpc>
                <a:spcPts val="38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Evaluasi:</a:t>
            </a:r>
          </a:p>
          <a:p>
            <a:pPr algn="l">
              <a:lnSpc>
                <a:spcPts val="3800"/>
              </a:lnSpc>
            </a:pP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 xml:space="preserve">      Akurasi</a:t>
            </a:r>
          </a:p>
          <a:p>
            <a:pPr algn="l">
              <a:lnSpc>
                <a:spcPts val="3800"/>
              </a:lnSpc>
            </a:pP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 xml:space="preserve">      </a:t>
            </a: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Sensitivitas</a:t>
            </a:r>
          </a:p>
          <a:p>
            <a:pPr algn="l">
              <a:lnSpc>
                <a:spcPts val="3800"/>
              </a:lnSpc>
            </a:pP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 xml:space="preserve">      </a:t>
            </a: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Spesifisitas</a:t>
            </a:r>
          </a:p>
          <a:p>
            <a:pPr algn="l">
              <a:lnSpc>
                <a:spcPts val="3800"/>
              </a:lnSpc>
            </a:pP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 xml:space="preserve">      </a:t>
            </a: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F1-score</a:t>
            </a:r>
          </a:p>
          <a:p>
            <a:pPr algn="ctr">
              <a:lnSpc>
                <a:spcPts val="380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1429915" y="8963025"/>
            <a:ext cx="475269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b="true" sz="3000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83552" y="2925007"/>
            <a:ext cx="3265103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ANALISIS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97363" y="4454525"/>
            <a:ext cx="3265103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 xml:space="preserve">OUTPUT 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5645019" y="758341"/>
            <a:ext cx="3748303" cy="3748303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79C9BB"/>
              </a:solidFill>
              <a:prstDash val="sysDot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5341" y="1679079"/>
            <a:ext cx="14717318" cy="6928841"/>
            <a:chOff x="0" y="0"/>
            <a:chExt cx="3876166" cy="1824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6166" cy="1824880"/>
            </a:xfrm>
            <a:custGeom>
              <a:avLst/>
              <a:gdLst/>
              <a:ahLst/>
              <a:cxnLst/>
              <a:rect r="r" b="b" t="t" l="l"/>
              <a:pathLst>
                <a:path h="1824880" w="3876166">
                  <a:moveTo>
                    <a:pt x="0" y="0"/>
                  </a:moveTo>
                  <a:lnTo>
                    <a:pt x="3876166" y="0"/>
                  </a:lnTo>
                  <a:lnTo>
                    <a:pt x="3876166" y="1824880"/>
                  </a:lnTo>
                  <a:lnTo>
                    <a:pt x="0" y="1824880"/>
                  </a:lnTo>
                  <a:close/>
                </a:path>
              </a:pathLst>
            </a:custGeom>
            <a:solidFill>
              <a:srgbClr val="79C9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76166" cy="18629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442740" y="2842069"/>
            <a:ext cx="1413018" cy="1236391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313694"/>
            <a:ext cx="1528376" cy="1528376"/>
          </a:xfrm>
          <a:custGeom>
            <a:avLst/>
            <a:gdLst/>
            <a:ahLst/>
            <a:cxnLst/>
            <a:rect r="r" b="b" t="t" l="l"/>
            <a:pathLst>
              <a:path h="1528376" w="1528376">
                <a:moveTo>
                  <a:pt x="0" y="0"/>
                </a:moveTo>
                <a:lnTo>
                  <a:pt x="1528376" y="0"/>
                </a:lnTo>
                <a:lnTo>
                  <a:pt x="1528376" y="1528375"/>
                </a:lnTo>
                <a:lnTo>
                  <a:pt x="0" y="1528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4221" y="7272116"/>
            <a:ext cx="4777529" cy="4771073"/>
          </a:xfrm>
          <a:custGeom>
            <a:avLst/>
            <a:gdLst/>
            <a:ahLst/>
            <a:cxnLst/>
            <a:rect r="r" b="b" t="t" l="l"/>
            <a:pathLst>
              <a:path h="4771073" w="4777529">
                <a:moveTo>
                  <a:pt x="0" y="0"/>
                </a:moveTo>
                <a:lnTo>
                  <a:pt x="4777529" y="0"/>
                </a:lnTo>
                <a:lnTo>
                  <a:pt x="4777529" y="4771073"/>
                </a:lnTo>
                <a:lnTo>
                  <a:pt x="0" y="47710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317571" y="7272116"/>
            <a:ext cx="1084179" cy="1084179"/>
          </a:xfrm>
          <a:custGeom>
            <a:avLst/>
            <a:gdLst/>
            <a:ahLst/>
            <a:cxnLst/>
            <a:rect r="r" b="b" t="t" l="l"/>
            <a:pathLst>
              <a:path h="1084179" w="1084179">
                <a:moveTo>
                  <a:pt x="0" y="0"/>
                </a:moveTo>
                <a:lnTo>
                  <a:pt x="1084179" y="0"/>
                </a:lnTo>
                <a:lnTo>
                  <a:pt x="1084179" y="1084179"/>
                </a:lnTo>
                <a:lnTo>
                  <a:pt x="0" y="10841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879060" y="-2396485"/>
            <a:ext cx="5953398" cy="5552897"/>
          </a:xfrm>
          <a:custGeom>
            <a:avLst/>
            <a:gdLst/>
            <a:ahLst/>
            <a:cxnLst/>
            <a:rect r="r" b="b" t="t" l="l"/>
            <a:pathLst>
              <a:path h="5552897" w="5953398">
                <a:moveTo>
                  <a:pt x="0" y="0"/>
                </a:moveTo>
                <a:lnTo>
                  <a:pt x="5953398" y="0"/>
                </a:lnTo>
                <a:lnTo>
                  <a:pt x="5953398" y="5552896"/>
                </a:lnTo>
                <a:lnTo>
                  <a:pt x="0" y="55528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86547" y="3908425"/>
            <a:ext cx="13514906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12999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DAHImsuideI</dc:identifier>
  <dcterms:modified xsi:type="dcterms:W3CDTF">2011-08-01T06:04:30Z</dcterms:modified>
  <cp:revision>1</cp:revision>
  <dc:title>Presentasi Seminar Proposal Skripsi Modern Simpel Sederhana Hijau Putih</dc:title>
</cp:coreProperties>
</file>